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E8C7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4EFE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134</c:v>
                </c:pt>
                <c:pt idx="2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4EFE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29D9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l"/>
        <c:majorGridlines>
          <c:spPr>
            <a:ln w="6350" cap="flat">
              <a:solidFill>
                <a:srgbClr val="2A2A3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7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14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31520"/>
            <a:ext cx="1005840" cy="1005840"/>
          </a:xfrm>
          <a:prstGeom prst="ellipse">
            <a:avLst/>
          </a:prstGeom>
          <a:solidFill>
            <a:srgbClr val="1B1B26"/>
          </a:solidFill>
          <a:ln w="19050">
            <a:solidFill>
              <a:srgbClr val="E8C77D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pic>
        <p:nvPicPr>
          <p:cNvPr id="3" name="Image 0" descr="icons/bol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996696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01168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8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 ·  OBJECT-ORIENTED  ·  FILE-BASED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1031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Electricity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154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i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</a:t>
            </a:r>
            <a:pPr indent="0" marL="0">
              <a:buNone/>
            </a:pPr>
            <a:r>
              <a:rPr lang="en-US" sz="80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8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4348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customer, meter and billing platform — engineered from the real source: Record · Customer · Meter · Bill · FileManager · Main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5349240"/>
            <a:ext cx="2194560" cy="0"/>
          </a:xfrm>
          <a:prstGeom prst="line">
            <a:avLst/>
          </a:prstGeom>
          <a:noFill/>
          <a:ln w="12700">
            <a:solidFill>
              <a:srgbClr val="C9A0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5440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6080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CLASSES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5349240"/>
            <a:ext cx="2194560" cy="0"/>
          </a:xfrm>
          <a:prstGeom prst="line">
            <a:avLst/>
          </a:prstGeom>
          <a:noFill/>
          <a:ln w="12700">
            <a:solidFill>
              <a:srgbClr val="C9A0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37560" y="5440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3337560" y="6080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PANELS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5349240"/>
            <a:ext cx="2194560" cy="0"/>
          </a:xfrm>
          <a:prstGeom prst="line">
            <a:avLst/>
          </a:prstGeom>
          <a:noFill/>
          <a:ln w="12700">
            <a:solidFill>
              <a:srgbClr val="C9A0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0" y="5440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0" y="6080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366760" y="5349240"/>
            <a:ext cx="2194560" cy="0"/>
          </a:xfrm>
          <a:prstGeom prst="line">
            <a:avLst/>
          </a:prstGeom>
          <a:noFill/>
          <a:ln w="12700">
            <a:solidFill>
              <a:srgbClr val="C9A0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6760" y="5440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6080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 / UNIT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slides from vision to verification, all grounded in the real source code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MANAGEMENT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46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18745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0025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&amp; Scope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350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objectives, boundaries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0025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99632" y="187452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28232" y="18745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159752" y="20025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159752" y="2350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Layers, domain model, GUI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948672" y="20025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04–06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944368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294436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0723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Lifecycle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34198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screens, customer CRUD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30723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07–08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99632" y="2944368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28232" y="294436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7159752" y="30723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Engine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159752" y="34198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Unbilled logic, worked example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948672" y="30723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09–10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4014216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68680" y="4014216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41422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Validation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1600200" y="44897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files, cascade, error matrix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389120" y="41422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11–12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99632" y="4014216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428232" y="4014216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34" name="Text 32"/>
          <p:cNvSpPr txBox="1"/>
          <p:nvPr/>
        </p:nvSpPr>
        <p:spPr>
          <a:xfrm>
            <a:off x="7159752" y="41422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&amp; Reports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159752" y="44897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patterns, annual report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948672" y="41422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13–14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5084064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68680" y="5084064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800" dirty="0"/>
          </a:p>
        </p:txBody>
      </p:sp>
      <p:sp>
        <p:nvSpPr>
          <p:cNvPr id="39" name="Text 37"/>
          <p:cNvSpPr txBox="1"/>
          <p:nvPr/>
        </p:nvSpPr>
        <p:spPr>
          <a:xfrm>
            <a:off x="1600200" y="5212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&amp; Roadmap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1600200" y="55595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plan, hardening path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389120" y="5212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15–16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99632" y="507492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1B1B26"/>
          </a:solidFill>
          <a:ln w="15875">
            <a:solidFill>
              <a:srgbClr val="C9A050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199632" y="507492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classes  ·  10 panels  ·  3 files  ·  5.0 Taka per unit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Set Out to Solve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utility must bill thousands of customers accurately without a database server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MANAGEMENT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46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120640" cy="4251960"/>
          </a:xfrm>
          <a:prstGeom prst="roundRect">
            <a:avLst>
              <a:gd name="adj" fmla="val 2151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548640" cy="548640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10" name="Image 0" descr="icons/warning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3" y="2617013"/>
            <a:ext cx="252374" cy="25237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4592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customer records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779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 registered twice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14400" y="3337560"/>
            <a:ext cx="548640" cy="548640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14" name="Image 1" descr="icons/databas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3" y="3485693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45920" y="3355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payment history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645920" y="3648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/ unpaid status not tracked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914400" y="4206240"/>
            <a:ext cx="548640" cy="548640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18" name="Image 2" descr="icons/brain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3" y="4354373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4224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unit arithmetic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4517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and rates calculated by hand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914400" y="5166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914400" y="5486400"/>
            <a:ext cx="1129284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14400" y="5486400"/>
            <a:ext cx="11292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database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171700" y="5486400"/>
            <a:ext cx="896112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2171700" y="548640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login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195828" y="5486400"/>
            <a:ext cx="1284732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3195828" y="5486400"/>
            <a:ext cx="12847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5.0 rate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612648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126480" y="2194560"/>
            <a:ext cx="5422392" cy="868680"/>
          </a:xfrm>
          <a:prstGeom prst="roundRect">
            <a:avLst>
              <a:gd name="adj" fmla="val 10526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355080" y="2359152"/>
            <a:ext cx="530352" cy="530352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31" name="Image 3" descr="icons/userplus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275" y="2502347"/>
            <a:ext cx="243962" cy="24396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086600" y="23225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customers safely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7086600" y="26517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search, update and delete with duplicate protection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126480" y="3182112"/>
            <a:ext cx="5422392" cy="868680"/>
          </a:xfrm>
          <a:prstGeom prst="roundRect">
            <a:avLst>
              <a:gd name="adj" fmla="val 10526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6355080" y="3346704"/>
            <a:ext cx="530352" cy="530352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36" name="Image 4" descr="icons/gauge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275" y="3489899"/>
            <a:ext cx="243962" cy="24396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086600" y="3310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never go backwards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7086600" y="36393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below previous is rejected before saving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6126480" y="4169664"/>
            <a:ext cx="5422392" cy="868680"/>
          </a:xfrm>
          <a:prstGeom prst="roundRect">
            <a:avLst>
              <a:gd name="adj" fmla="val 10526"/>
            </a:avLst>
          </a:prstGeom>
          <a:solidFill>
            <a:srgbClr val="1B1B26"/>
          </a:solidFill>
          <a:ln w="15875">
            <a:solidFill>
              <a:srgbClr val="C9A050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355080" y="4334256"/>
            <a:ext cx="530352" cy="530352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41" name="Image 5" descr="icons/invoice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8275" y="4477451"/>
            <a:ext cx="243962" cy="243962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086600" y="4297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every reading exactly once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7086600" y="462686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× 5.0 Taka, linked to the oldest unbilled reading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6126480" y="5157216"/>
            <a:ext cx="5422392" cy="868680"/>
          </a:xfrm>
          <a:prstGeom prst="roundRect">
            <a:avLst>
              <a:gd name="adj" fmla="val 10526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6355080" y="5321808"/>
            <a:ext cx="530352" cy="530352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46" name="Image 6" descr="icons/chart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8275" y="5465003"/>
            <a:ext cx="243962" cy="243962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7086600" y="5285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paid versus due instantly</a:t>
            </a:r>
            <a:endParaRPr lang="en-US" sz="1400" dirty="0"/>
          </a:p>
        </p:txBody>
      </p:sp>
      <p:sp>
        <p:nvSpPr>
          <p:cNvPr id="48" name="Text 39"/>
          <p:cNvSpPr txBox="1"/>
          <p:nvPr/>
        </p:nvSpPr>
        <p:spPr>
          <a:xfrm>
            <a:off x="7086600" y="561441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summary with totals per customer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One Clean Direction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flows top-down: interface → data access → domain model → flat files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MANAGEMENT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46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9804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9" name="Image 0" descr="icons/gaug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1" y="2256191"/>
            <a:ext cx="260787" cy="26078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45920" y="20756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PRESENTATION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64592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extends JFrame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846320" y="2103120"/>
            <a:ext cx="1078992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210312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CardLayout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53328" y="2103120"/>
            <a:ext cx="998525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53328" y="2103120"/>
            <a:ext cx="9985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panels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79869" y="2103120"/>
            <a:ext cx="998525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79869" y="2103120"/>
            <a:ext cx="9985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650 × 500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06410" y="2103120"/>
            <a:ext cx="1400861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06410" y="2103120"/>
            <a:ext cx="14008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showPage(name)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252374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input, shows results, never touches files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 rot="10800000">
            <a:off x="5989320" y="2871216"/>
            <a:ext cx="201168" cy="137160"/>
          </a:xfrm>
          <a:prstGeom prst="triangle">
            <a:avLst/>
          </a:prstGeom>
          <a:solidFill>
            <a:srgbClr val="C9A050"/>
          </a:solidFill>
          <a:ln/>
        </p:spPr>
      </p:sp>
      <p:sp>
        <p:nvSpPr>
          <p:cNvPr id="22" name="Shape 19"/>
          <p:cNvSpPr/>
          <p:nvPr/>
        </p:nvSpPr>
        <p:spPr>
          <a:xfrm>
            <a:off x="640080" y="3035808"/>
            <a:ext cx="10908792" cy="932688"/>
          </a:xfrm>
          <a:prstGeom prst="roundRect">
            <a:avLst>
              <a:gd name="adj" fmla="val 9804"/>
            </a:avLst>
          </a:prstGeom>
          <a:solidFill>
            <a:srgbClr val="1B1B26"/>
          </a:solidFill>
          <a:ln w="15875">
            <a:solidFill>
              <a:srgbClr val="C9A050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68680" y="3218688"/>
            <a:ext cx="566928" cy="566928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24" name="Image 1" descr="icons/cogs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51" y="3371759"/>
            <a:ext cx="260787" cy="260787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645920" y="31912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 ACCESS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1645920" y="3447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FileManager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4846320" y="3218688"/>
            <a:ext cx="1239926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846320" y="3218688"/>
            <a:ext cx="12399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saveCustomer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214262" y="3218688"/>
            <a:ext cx="1561795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214262" y="3218688"/>
            <a:ext cx="15617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findCustomerById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7904074" y="3218688"/>
            <a:ext cx="1964131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904074" y="3218688"/>
            <a:ext cx="19641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findNextUnbilledMeter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9996221" y="3218688"/>
            <a:ext cx="1078992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996221" y="321868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changeBill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4846320" y="363931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gateway for every read and write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 rot="10800000">
            <a:off x="5989320" y="3986784"/>
            <a:ext cx="201168" cy="137160"/>
          </a:xfrm>
          <a:prstGeom prst="triangle">
            <a:avLst/>
          </a:prstGeom>
          <a:solidFill>
            <a:srgbClr val="C9A050"/>
          </a:solidFill>
          <a:ln/>
        </p:spPr>
      </p:sp>
      <p:sp>
        <p:nvSpPr>
          <p:cNvPr id="37" name="Shape 33"/>
          <p:cNvSpPr/>
          <p:nvPr/>
        </p:nvSpPr>
        <p:spPr>
          <a:xfrm>
            <a:off x="640080" y="4151376"/>
            <a:ext cx="10908792" cy="932688"/>
          </a:xfrm>
          <a:prstGeom prst="roundRect">
            <a:avLst>
              <a:gd name="adj" fmla="val 9804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868680" y="4334256"/>
            <a:ext cx="566928" cy="566928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39" name="Image 2" descr="icons/sitemap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51" y="4487327"/>
            <a:ext cx="260787" cy="260787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1645920" y="43068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DOMAIN MODEL</a:t>
            </a:r>
            <a:endParaRPr lang="en-US" sz="1050" dirty="0"/>
          </a:p>
        </p:txBody>
      </p:sp>
      <p:sp>
        <p:nvSpPr>
          <p:cNvPr id="41" name="Text 36"/>
          <p:cNvSpPr txBox="1"/>
          <p:nvPr/>
        </p:nvSpPr>
        <p:spPr>
          <a:xfrm>
            <a:off x="1645920" y="45628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Record</a:t>
            </a:r>
            <a:endParaRPr lang="en-US" sz="1800" dirty="0"/>
          </a:p>
        </p:txBody>
      </p:sp>
      <p:sp>
        <p:nvSpPr>
          <p:cNvPr id="42" name="Shape 37"/>
          <p:cNvSpPr/>
          <p:nvPr/>
        </p:nvSpPr>
        <p:spPr>
          <a:xfrm>
            <a:off x="4846320" y="4334256"/>
            <a:ext cx="918058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4846320" y="4334256"/>
            <a:ext cx="91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5892394" y="4334256"/>
            <a:ext cx="676656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5892394" y="4334256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Meter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6697066" y="4334256"/>
            <a:ext cx="596189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6697066" y="4334256"/>
            <a:ext cx="5961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4846320" y="475488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lives in Record; each entity adds its own state</a:t>
            </a:r>
            <a:endParaRPr lang="en-US" sz="1150" dirty="0"/>
          </a:p>
        </p:txBody>
      </p:sp>
      <p:sp>
        <p:nvSpPr>
          <p:cNvPr id="49" name="Shape 44"/>
          <p:cNvSpPr/>
          <p:nvPr/>
        </p:nvSpPr>
        <p:spPr>
          <a:xfrm rot="10800000">
            <a:off x="5989320" y="5102352"/>
            <a:ext cx="201168" cy="137160"/>
          </a:xfrm>
          <a:prstGeom prst="triangle">
            <a:avLst/>
          </a:prstGeom>
          <a:solidFill>
            <a:srgbClr val="C9A050"/>
          </a:solidFill>
          <a:ln/>
        </p:spPr>
      </p:sp>
      <p:sp>
        <p:nvSpPr>
          <p:cNvPr id="50" name="Shape 45"/>
          <p:cNvSpPr/>
          <p:nvPr/>
        </p:nvSpPr>
        <p:spPr>
          <a:xfrm>
            <a:off x="640080" y="5266944"/>
            <a:ext cx="10908792" cy="932688"/>
          </a:xfrm>
          <a:prstGeom prst="roundRect">
            <a:avLst>
              <a:gd name="adj" fmla="val 9804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51" name="Shape 46"/>
          <p:cNvSpPr/>
          <p:nvPr/>
        </p:nvSpPr>
        <p:spPr>
          <a:xfrm>
            <a:off x="868680" y="5449824"/>
            <a:ext cx="566928" cy="566928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52" name="Image 3" descr="icons/databas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751" y="5602895"/>
            <a:ext cx="260787" cy="260787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1645920" y="54223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STORAGE</a:t>
            </a:r>
            <a:endParaRPr lang="en-US" sz="1050" dirty="0"/>
          </a:p>
        </p:txBody>
      </p:sp>
      <p:sp>
        <p:nvSpPr>
          <p:cNvPr id="54" name="Text 48"/>
          <p:cNvSpPr txBox="1"/>
          <p:nvPr/>
        </p:nvSpPr>
        <p:spPr>
          <a:xfrm>
            <a:off x="1645920" y="56784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CSV files</a:t>
            </a:r>
            <a:endParaRPr lang="en-US" sz="1800" dirty="0"/>
          </a:p>
        </p:txBody>
      </p:sp>
      <p:sp>
        <p:nvSpPr>
          <p:cNvPr id="55" name="Shape 49"/>
          <p:cNvSpPr/>
          <p:nvPr/>
        </p:nvSpPr>
        <p:spPr>
          <a:xfrm>
            <a:off x="4846320" y="5449824"/>
            <a:ext cx="1320394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4846320" y="5449824"/>
            <a:ext cx="13203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customers.txt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6294730" y="5449824"/>
            <a:ext cx="1078992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6294730" y="544982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meters.txt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7501738" y="5449824"/>
            <a:ext cx="998525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7501738" y="5449824"/>
            <a:ext cx="9985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bills.txt</a:t>
            </a:r>
            <a:endParaRPr lang="en-US" sz="1000" dirty="0"/>
          </a:p>
        </p:txBody>
      </p:sp>
      <p:sp>
        <p:nvSpPr>
          <p:cNvPr id="61" name="Text 55"/>
          <p:cNvSpPr txBox="1"/>
          <p:nvPr/>
        </p:nvSpPr>
        <p:spPr>
          <a:xfrm>
            <a:off x="4846320" y="587044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rows built by toFileString()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Abstract Base, Three Entities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owns the identity — subclasses decide how much of their state may change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MANAGEMENT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46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200400" cy="4114800"/>
          </a:xfrm>
          <a:prstGeom prst="roundRect">
            <a:avLst>
              <a:gd name="adj" fmla="val 2857"/>
            </a:avLst>
          </a:prstGeom>
          <a:solidFill>
            <a:srgbClr val="1B1B26"/>
          </a:solidFill>
          <a:ln w="15875">
            <a:solidFill>
              <a:srgbClr val="C9A050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3063240"/>
            <a:ext cx="2651760" cy="0"/>
          </a:xfrm>
          <a:prstGeom prst="line">
            <a:avLst/>
          </a:prstGeom>
          <a:noFill/>
          <a:ln w="12700">
            <a:solidFill>
              <a:srgbClr val="3A31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2004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 String id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Record(String id)
getId()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displayInfo()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toFileString()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074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customerId passed by each subclass is stored as the shared id.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1920240"/>
            <a:ext cx="2331720" cy="4114800"/>
          </a:xfrm>
          <a:prstGeom prst="roundRect">
            <a:avLst>
              <a:gd name="adj" fmla="val 3922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2148840"/>
            <a:ext cx="548640" cy="548640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15" name="Image 0" descr="icons/userplu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533" y="2296973"/>
            <a:ext cx="252374" cy="25237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343400" y="2834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434340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· address · meterNumber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43400" y="4023360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C9A0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343400" y="402336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editable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34340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@Override on both methods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43400" y="5120640"/>
            <a:ext cx="1874520" cy="0"/>
          </a:xfrm>
          <a:prstGeom prst="line">
            <a:avLst/>
          </a:prstGeom>
          <a:noFill/>
          <a:ln w="12700">
            <a:solidFill>
              <a:srgbClr val="3A312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343400" y="5212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ROW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4343400" y="5440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id,name,address,meterNumber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629400" y="1920240"/>
            <a:ext cx="2331720" cy="4114800"/>
          </a:xfrm>
          <a:prstGeom prst="roundRect">
            <a:avLst>
              <a:gd name="adj" fmla="val 3922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858000" y="2148840"/>
            <a:ext cx="548640" cy="548640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26" name="Image 1" descr="icons/gaug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133" y="2296973"/>
            <a:ext cx="252374" cy="25237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858000" y="2834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</a:t>
            </a:r>
            <a:endParaRPr lang="en-US" sz="2200" dirty="0"/>
          </a:p>
        </p:txBody>
      </p:sp>
      <p:sp>
        <p:nvSpPr>
          <p:cNvPr id="28" name="Text 24"/>
          <p:cNvSpPr txBox="1"/>
          <p:nvPr/>
        </p:nvSpPr>
        <p:spPr>
          <a:xfrm>
            <a:off x="685800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meterNumber · previous · current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858000" y="4023360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C9A05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858000" y="402336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reading</a:t>
            </a:r>
            <a:endParaRPr lang="en-US" sz="1050" dirty="0"/>
          </a:p>
        </p:txBody>
      </p:sp>
      <p:sp>
        <p:nvSpPr>
          <p:cNvPr id="31" name="Text 27"/>
          <p:cNvSpPr txBox="1"/>
          <p:nvPr/>
        </p:nvSpPr>
        <p:spPr>
          <a:xfrm>
            <a:off x="685800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getUnitsUsed() = current − previous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858000" y="5120640"/>
            <a:ext cx="1874520" cy="0"/>
          </a:xfrm>
          <a:prstGeom prst="line">
            <a:avLst/>
          </a:prstGeom>
          <a:noFill/>
          <a:ln w="12700">
            <a:solidFill>
              <a:srgbClr val="3A3122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858000" y="5212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ROW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6858000" y="5440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id,meterNumber,prev,current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9144000" y="1920240"/>
            <a:ext cx="2331720" cy="4114800"/>
          </a:xfrm>
          <a:prstGeom prst="roundRect">
            <a:avLst>
              <a:gd name="adj" fmla="val 3922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9372600" y="2148840"/>
            <a:ext cx="548640" cy="548640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37" name="Image 2" descr="icons/invoic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733" y="2296973"/>
            <a:ext cx="252374" cy="252374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9372600" y="2834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</a:t>
            </a:r>
            <a:endParaRPr lang="en-US" sz="2200" dirty="0"/>
          </a:p>
        </p:txBody>
      </p:sp>
      <p:sp>
        <p:nvSpPr>
          <p:cNvPr id="39" name="Text 34"/>
          <p:cNvSpPr txBox="1"/>
          <p:nvPr/>
        </p:nvSpPr>
        <p:spPr>
          <a:xfrm>
            <a:off x="937260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· unitsUsed · reading · status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9372600" y="4023360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C9A050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9372600" y="402336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status changes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937260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setStatus(String)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9372600" y="5120640"/>
            <a:ext cx="1874520" cy="0"/>
          </a:xfrm>
          <a:prstGeom prst="line">
            <a:avLst/>
          </a:prstGeom>
          <a:noFill/>
          <a:ln w="12700">
            <a:solidFill>
              <a:srgbClr val="3A3122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9372600" y="5212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ROW</a:t>
            </a:r>
            <a:endParaRPr lang="en-US" sz="850" dirty="0"/>
          </a:p>
        </p:txBody>
      </p:sp>
      <p:sp>
        <p:nvSpPr>
          <p:cNvPr id="45" name="Text 40"/>
          <p:cNvSpPr txBox="1"/>
          <p:nvPr/>
        </p:nvSpPr>
        <p:spPr>
          <a:xfrm>
            <a:off x="9372600" y="5440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id,month,units,reading,status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Frame. Ten Cards.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 swaps panels with CardLayout — every screen shares the same page template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MANAGEMENT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46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4937760" cy="4343400"/>
          </a:xfrm>
          <a:prstGeom prst="roundRect">
            <a:avLst>
              <a:gd name="adj" fmla="val 2526"/>
            </a:avLst>
          </a:prstGeom>
          <a:solidFill>
            <a:srgbClr val="ECE7DD"/>
          </a:solidFill>
          <a:ln w="19050">
            <a:solidFill>
              <a:srgbClr val="C9A050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74520"/>
            <a:ext cx="4937760" cy="384048"/>
          </a:xfrm>
          <a:prstGeom prst="roundRect">
            <a:avLst>
              <a:gd name="adj" fmla="val 28571"/>
            </a:avLst>
          </a:prstGeom>
          <a:solidFill>
            <a:srgbClr val="2020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00253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00253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280160" y="200253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19476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Management System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Management System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51560" y="2880360"/>
            <a:ext cx="2057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9B3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Customer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2880360"/>
            <a:ext cx="2057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9B3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4612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Customer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51560" y="3447288"/>
            <a:ext cx="2057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9B3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34472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Customer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3447288"/>
            <a:ext cx="2057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9B3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46120" y="34472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Customer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51560" y="4014216"/>
            <a:ext cx="2057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9B3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01421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Meter Reading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4014216"/>
            <a:ext cx="2057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9B3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46120" y="401421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Monthly Bill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51560" y="4581144"/>
            <a:ext cx="2057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9B3A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1560" y="458114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Bill Status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46120" y="4581144"/>
            <a:ext cx="2057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9B3A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46120" y="458114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Bill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51560" y="5148072"/>
            <a:ext cx="2057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9B3A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51560" y="51480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 Report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0" y="5760720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B9B3A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43200" y="57607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buildPageFrame( title, form, output, buttons… 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26480" y="2286000"/>
            <a:ext cx="5422392" cy="502920"/>
          </a:xfrm>
          <a:prstGeom prst="roundRect">
            <a:avLst>
              <a:gd name="adj" fmla="val 18182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355080" y="22860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452360" y="228600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title label · 18 pt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26480" y="2898648"/>
            <a:ext cx="5422392" cy="1005840"/>
          </a:xfrm>
          <a:prstGeom prst="roundRect">
            <a:avLst>
              <a:gd name="adj" fmla="val 9091"/>
            </a:avLst>
          </a:prstGeom>
          <a:solidFill>
            <a:srgbClr val="1B1B26"/>
          </a:solidFill>
          <a:ln w="15875">
            <a:solidFill>
              <a:srgbClr val="C9A050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355080" y="2898648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452360" y="289864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createForm(rows) GridLayout  +  JScrollPane(JTextArea output)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126480" y="4014216"/>
            <a:ext cx="5422392" cy="502920"/>
          </a:xfrm>
          <a:prstGeom prst="roundRect">
            <a:avLst>
              <a:gd name="adj" fmla="val 18182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6355080" y="401421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452360" y="401421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buttons  +  “Back to Home”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126480" y="4572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 CARDS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26480" y="4892040"/>
            <a:ext cx="596189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26480" y="4892040"/>
            <a:ext cx="5961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50685" y="4892040"/>
            <a:ext cx="918058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50685" y="4892040"/>
            <a:ext cx="91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896758" y="4892040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896758" y="4892040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781898" y="4892040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781898" y="4892040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667037" y="4892040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667037" y="4892040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0552176" y="4892040"/>
            <a:ext cx="676656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552176" y="4892040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meter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26480" y="5349240"/>
            <a:ext cx="837590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126480" y="5349240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billAdd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092086" y="5349240"/>
            <a:ext cx="1078992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092086" y="53492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billUpdate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299094" y="5349240"/>
            <a:ext cx="1078992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299094" y="53492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billDelete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506102" y="5349240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506102" y="5349240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Screens, Mapped to the Code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home-menu button routes to a panel that calls a specific FileManager method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MANAGEMENT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46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16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3566160"/>
                <a:gridCol w="386791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C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C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C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FILEMANAGER 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C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SHOWN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registered successfully!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findCustomerById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address, meter 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findCustomerById → updateCustomer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updated successfully!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deleteCustomer (cascade)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dialog, then records removed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Meter Reading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findMeterByCustomerId → saveMeter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Previous, current, units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Monthly Bill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billAdd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findNextUnbilledMeter → saveBill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Units, reading, amount,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Bill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updateBillStatus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status updated.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Bill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billDelete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deleteBill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deleted.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Bill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findBillsByCustomerId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rows plus totals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· Search · Update · Delete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screens manage the customers.txt record from creation to cascade removal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MANAGEMENT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46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2615184" cy="4251960"/>
          </a:xfrm>
          <a:prstGeom prst="roundRect">
            <a:avLst>
              <a:gd name="adj" fmla="val 3497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9" name="Image 0" descr="icons/userplu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1" y="2256191"/>
            <a:ext cx="260787" cy="26078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33832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Customer from four text fields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09651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409651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isCustomerIdTaken(id) check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480974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80974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appendLine, then clear the form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8680" y="5577840"/>
            <a:ext cx="1324051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5577840"/>
            <a:ext cx="13240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saveCustomer()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401568" y="1874520"/>
            <a:ext cx="2615184" cy="4251960"/>
          </a:xfrm>
          <a:prstGeom prst="roundRect">
            <a:avLst>
              <a:gd name="adj" fmla="val 3497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30168" y="2103120"/>
            <a:ext cx="566928" cy="566928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21" name="Image 1" descr="icons/search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239" y="2256191"/>
            <a:ext cx="260787" cy="26078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630168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2400" dirty="0"/>
          </a:p>
        </p:txBody>
      </p:sp>
      <p:sp>
        <p:nvSpPr>
          <p:cNvPr id="23" name="Text 19"/>
          <p:cNvSpPr txBox="1"/>
          <p:nvPr/>
        </p:nvSpPr>
        <p:spPr>
          <a:xfrm>
            <a:off x="3630168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3950208" y="33832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rows with 4 columns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3630168" y="409651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3950208" y="409651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column 0 to the ID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3630168" y="480974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3950208" y="480974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shows “Customer not found.”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630168" y="5577840"/>
            <a:ext cx="1623974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630168" y="5577840"/>
            <a:ext cx="16239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findCustomerById()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163056" y="1874520"/>
            <a:ext cx="2615184" cy="4251960"/>
          </a:xfrm>
          <a:prstGeom prst="roundRect">
            <a:avLst>
              <a:gd name="adj" fmla="val 3497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391656" y="2103120"/>
            <a:ext cx="566928" cy="566928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33" name="Image 2" descr="icons/edi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727" y="2256191"/>
            <a:ext cx="260787" cy="260787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6391656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2400" dirty="0"/>
          </a:p>
        </p:txBody>
      </p:sp>
      <p:sp>
        <p:nvSpPr>
          <p:cNvPr id="35" name="Text 30"/>
          <p:cNvSpPr txBox="1"/>
          <p:nvPr/>
        </p:nvSpPr>
        <p:spPr>
          <a:xfrm>
            <a:off x="6391656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36" name="Text 31"/>
          <p:cNvSpPr txBox="1"/>
          <p:nvPr/>
        </p:nvSpPr>
        <p:spPr>
          <a:xfrm>
            <a:off x="6711696" y="33832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Current Info fills the fields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6391656" y="409651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38" name="Text 33"/>
          <p:cNvSpPr txBox="1"/>
          <p:nvPr/>
        </p:nvSpPr>
        <p:spPr>
          <a:xfrm>
            <a:off x="6711696" y="409651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matching line</a:t>
            </a:r>
            <a:endParaRPr lang="en-US" sz="1100" dirty="0"/>
          </a:p>
        </p:txBody>
      </p:sp>
      <p:sp>
        <p:nvSpPr>
          <p:cNvPr id="39" name="Text 34"/>
          <p:cNvSpPr txBox="1"/>
          <p:nvPr/>
        </p:nvSpPr>
        <p:spPr>
          <a:xfrm>
            <a:off x="6391656" y="480974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40" name="Text 35"/>
          <p:cNvSpPr txBox="1"/>
          <p:nvPr/>
        </p:nvSpPr>
        <p:spPr>
          <a:xfrm>
            <a:off x="6711696" y="480974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ID throws NotFound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6391656" y="5577840"/>
            <a:ext cx="1474013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6391656" y="5577840"/>
            <a:ext cx="14740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updateCustomer()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8924544" y="1874520"/>
            <a:ext cx="2615184" cy="4251960"/>
          </a:xfrm>
          <a:prstGeom prst="roundRect">
            <a:avLst>
              <a:gd name="adj" fmla="val 3497"/>
            </a:avLst>
          </a:prstGeom>
          <a:solidFill>
            <a:srgbClr val="1B1B26"/>
          </a:solidFill>
          <a:ln w="15875">
            <a:solidFill>
              <a:srgbClr val="C9A050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9153144" y="2103120"/>
            <a:ext cx="566928" cy="566928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45" name="Image 3" descr="icons/shield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6215" y="2256191"/>
            <a:ext cx="260787" cy="260787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9153144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2400" dirty="0"/>
          </a:p>
        </p:txBody>
      </p:sp>
      <p:sp>
        <p:nvSpPr>
          <p:cNvPr id="47" name="Text 41"/>
          <p:cNvSpPr txBox="1"/>
          <p:nvPr/>
        </p:nvSpPr>
        <p:spPr>
          <a:xfrm>
            <a:off x="9153144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48" name="Text 42"/>
          <p:cNvSpPr txBox="1"/>
          <p:nvPr/>
        </p:nvSpPr>
        <p:spPr>
          <a:xfrm>
            <a:off x="9473184" y="33832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JOptionPane YES / NO confirmation</a:t>
            </a:r>
            <a:endParaRPr lang="en-US" sz="1100" dirty="0"/>
          </a:p>
        </p:txBody>
      </p:sp>
      <p:sp>
        <p:nvSpPr>
          <p:cNvPr id="49" name="Text 43"/>
          <p:cNvSpPr txBox="1"/>
          <p:nvPr/>
        </p:nvSpPr>
        <p:spPr>
          <a:xfrm>
            <a:off x="9153144" y="409651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50" name="Text 44"/>
          <p:cNvSpPr txBox="1"/>
          <p:nvPr/>
        </p:nvSpPr>
        <p:spPr>
          <a:xfrm>
            <a:off x="9473184" y="409651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customer line</a:t>
            </a:r>
            <a:endParaRPr lang="en-US" sz="1100" dirty="0"/>
          </a:p>
        </p:txBody>
      </p:sp>
      <p:sp>
        <p:nvSpPr>
          <p:cNvPr id="51" name="Text 45"/>
          <p:cNvSpPr txBox="1"/>
          <p:nvPr/>
        </p:nvSpPr>
        <p:spPr>
          <a:xfrm>
            <a:off x="9153144" y="480974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52" name="Text 46"/>
          <p:cNvSpPr txBox="1"/>
          <p:nvPr/>
        </p:nvSpPr>
        <p:spPr>
          <a:xfrm>
            <a:off x="9473184" y="480974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meters and bills cascade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9153144" y="5577840"/>
            <a:ext cx="1474013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9153144" y="5577840"/>
            <a:ext cx="14740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deleteCustomer()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ENGINE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Reading to Invoice — Guarded at Every Step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findNextUnbilledMeter() pairs each unbilled reading with a new Bill automatically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MANAGEMENT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46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6035040" cy="4251960"/>
          </a:xfrm>
          <a:prstGeom prst="roundRect">
            <a:avLst>
              <a:gd name="adj" fmla="val 2151"/>
            </a:avLst>
          </a:prstGeom>
          <a:solidFill>
            <a:srgbClr val="0A0A10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0665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20665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271016" y="20665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5448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9D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FileManager.java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350008"/>
            <a:ext cx="6035040" cy="0"/>
          </a:xfrm>
          <a:prstGeom prst="line">
            <a:avLst/>
          </a:prstGeom>
          <a:noFill/>
          <a:ln w="12700">
            <a:solidFill>
              <a:srgbClr val="3A31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514600"/>
            <a:ext cx="5532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Meter 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findNextUnbilledMeter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id) {
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List&lt;Bill&gt; bills = 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findBillsByCustomerId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(id);
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List&lt;Meter&gt; meters = 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findAllMetersByCustomerId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(id);
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(Meter meter : meters) {
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isBilled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(meter, bills))
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meter;
  }
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null;
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indent="0" marL="0">
              <a:lnSpc>
                <a:spcPct val="128000"/>
              </a:lnSpc>
              <a:buNone/>
            </a:pPr>
            <a:r>
              <a:rPr lang="en-US" sz="1100" i="1" dirty="0">
                <a:solidFill>
                  <a:srgbClr val="6B67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reading is billed when a Bill exists
// with the same reading value
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bill.getReading() == meter.getCurrentReading()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874520"/>
            <a:ext cx="4599432" cy="804672"/>
          </a:xfrm>
          <a:prstGeom prst="roundRect">
            <a:avLst>
              <a:gd name="adj" fmla="val 11364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132320" y="187452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1993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exists?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9D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findCustomerById(id) ≠ null</a:t>
            </a:r>
            <a:endParaRPr lang="en-US" sz="950" dirty="0"/>
          </a:p>
        </p:txBody>
      </p:sp>
      <p:pic>
        <p:nvPicPr>
          <p:cNvPr id="18" name="Image 0" descr="icons/userplu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121408"/>
            <a:ext cx="310896" cy="310896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949440" y="2807208"/>
            <a:ext cx="4599432" cy="804672"/>
          </a:xfrm>
          <a:prstGeom prst="roundRect">
            <a:avLst>
              <a:gd name="adj" fmla="val 11364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132320" y="2807208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763524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Unbilled reading found?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7635240" y="3236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9D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findNextUnbilledMeter(id) ≠ null</a:t>
            </a:r>
            <a:endParaRPr lang="en-US" sz="950" dirty="0"/>
          </a:p>
        </p:txBody>
      </p:sp>
      <p:pic>
        <p:nvPicPr>
          <p:cNvPr id="23" name="Image 1" descr="icons/gaug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3054096"/>
            <a:ext cx="310896" cy="310896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949440" y="3739896"/>
            <a:ext cx="4599432" cy="804672"/>
          </a:xfrm>
          <a:prstGeom prst="roundRect">
            <a:avLst>
              <a:gd name="adj" fmla="val 11364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7132320" y="3739896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2"/>
          <p:cNvSpPr txBox="1"/>
          <p:nvPr/>
        </p:nvSpPr>
        <p:spPr>
          <a:xfrm>
            <a:off x="7635240" y="3858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valid?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7635240" y="4169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9D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“Paid” or “Unpaid” (case-insensitive)</a:t>
            </a:r>
            <a:endParaRPr lang="en-US" sz="950" dirty="0"/>
          </a:p>
        </p:txBody>
      </p:sp>
      <p:pic>
        <p:nvPicPr>
          <p:cNvPr id="28" name="Image 2" descr="icons/shield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3986784"/>
            <a:ext cx="310896" cy="310896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949440" y="4672584"/>
            <a:ext cx="4599432" cy="804672"/>
          </a:xfrm>
          <a:prstGeom prst="roundRect">
            <a:avLst>
              <a:gd name="adj" fmla="val 11364"/>
            </a:avLst>
          </a:prstGeom>
          <a:solidFill>
            <a:srgbClr val="1B1B26"/>
          </a:solidFill>
          <a:ln w="15875">
            <a:solidFill>
              <a:srgbClr val="C9A050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7132320" y="4672584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6"/>
          <p:cNvSpPr txBox="1"/>
          <p:nvPr/>
        </p:nvSpPr>
        <p:spPr>
          <a:xfrm>
            <a:off x="7635240" y="47914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computed</a:t>
            </a:r>
            <a:endParaRPr lang="en-US" sz="1350" dirty="0"/>
          </a:p>
        </p:txBody>
      </p:sp>
      <p:sp>
        <p:nvSpPr>
          <p:cNvPr id="32" name="Text 27"/>
          <p:cNvSpPr txBox="1"/>
          <p:nvPr/>
        </p:nvSpPr>
        <p:spPr>
          <a:xfrm>
            <a:off x="7635240" y="5102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9D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unitsUsed × RATE_PER_UNIT (5.0 Taka)</a:t>
            </a:r>
            <a:endParaRPr lang="en-US" sz="950" dirty="0"/>
          </a:p>
        </p:txBody>
      </p:sp>
      <p:pic>
        <p:nvPicPr>
          <p:cNvPr id="33" name="Image 3" descr="icons/invoic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4919472"/>
            <a:ext cx="310896" cy="310896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949440" y="5623560"/>
            <a:ext cx="4599432" cy="502920"/>
          </a:xfrm>
          <a:prstGeom prst="roundRect">
            <a:avLst>
              <a:gd name="adj" fmla="val 18182"/>
            </a:avLst>
          </a:prstGeom>
          <a:solidFill>
            <a:srgbClr val="1B1B26"/>
          </a:solidFill>
          <a:ln w="15875">
            <a:solidFill>
              <a:srgbClr val="C9A050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sp>
        <p:nvSpPr>
          <p:cNvPr id="35" name="Text 29"/>
          <p:cNvSpPr txBox="1"/>
          <p:nvPr/>
        </p:nvSpPr>
        <p:spPr>
          <a:xfrm>
            <a:off x="7178040" y="5623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guard:  </a:t>
            </a:r>
            <a:pPr indent="0" marL="0">
              <a:buNone/>
            </a:pPr>
            <a:r>
              <a:rPr lang="en-US" sz="11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&lt; previous is rejected; first previous = 0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Rahim Uddin — First Quarter, Step by Step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three meter readings become three bills for customer C1042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MANAGEMENT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46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16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69494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  <a:gridCol w="1097280"/>
                <a:gridCol w="1005840"/>
                <a:gridCol w="146304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C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C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C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C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C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(×5)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C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411480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LADDER — each current becomes the next previous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4526280"/>
            <a:ext cx="1097280" cy="1097280"/>
          </a:xfrm>
          <a:prstGeom prst="ellipse">
            <a:avLst/>
          </a:prstGeom>
          <a:solidFill>
            <a:srgbClr val="1B1B26"/>
          </a:solidFill>
          <a:ln w="19050">
            <a:solidFill>
              <a:srgbClr val="E8C77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0080" y="4526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828800" y="4956048"/>
            <a:ext cx="548640" cy="237744"/>
          </a:xfrm>
          <a:prstGeom prst="rightArrow">
            <a:avLst/>
          </a:prstGeom>
          <a:solidFill>
            <a:srgbClr val="C9A050"/>
          </a:solidFill>
          <a:ln/>
        </p:spPr>
      </p:sp>
      <p:sp>
        <p:nvSpPr>
          <p:cNvPr id="12" name="Shape 9"/>
          <p:cNvSpPr/>
          <p:nvPr/>
        </p:nvSpPr>
        <p:spPr>
          <a:xfrm>
            <a:off x="2468880" y="4526280"/>
            <a:ext cx="1097280" cy="1097280"/>
          </a:xfrm>
          <a:prstGeom prst="ellipse">
            <a:avLst/>
          </a:prstGeom>
          <a:solidFill>
            <a:srgbClr val="1B1B26"/>
          </a:solidFill>
          <a:ln w="19050">
            <a:solidFill>
              <a:srgbClr val="E8C77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468880" y="4526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1120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657600" y="4956048"/>
            <a:ext cx="548640" cy="237744"/>
          </a:xfrm>
          <a:prstGeom prst="rightArrow">
            <a:avLst/>
          </a:prstGeom>
          <a:solidFill>
            <a:srgbClr val="C9A050"/>
          </a:solidFill>
          <a:ln/>
        </p:spPr>
      </p:sp>
      <p:sp>
        <p:nvSpPr>
          <p:cNvPr id="15" name="Shape 12"/>
          <p:cNvSpPr/>
          <p:nvPr/>
        </p:nvSpPr>
        <p:spPr>
          <a:xfrm>
            <a:off x="4297680" y="4526280"/>
            <a:ext cx="1097280" cy="1097280"/>
          </a:xfrm>
          <a:prstGeom prst="ellipse">
            <a:avLst/>
          </a:prstGeom>
          <a:solidFill>
            <a:srgbClr val="1B1B26"/>
          </a:solidFill>
          <a:ln w="19050">
            <a:solidFill>
              <a:srgbClr val="E8C77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297680" y="4526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1254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486400" y="4956048"/>
            <a:ext cx="548640" cy="237744"/>
          </a:xfrm>
          <a:prstGeom prst="rightArrow">
            <a:avLst/>
          </a:prstGeom>
          <a:solidFill>
            <a:srgbClr val="C9A050"/>
          </a:solidFill>
          <a:ln/>
        </p:spPr>
      </p:sp>
      <p:sp>
        <p:nvSpPr>
          <p:cNvPr id="18" name="Shape 15"/>
          <p:cNvSpPr/>
          <p:nvPr/>
        </p:nvSpPr>
        <p:spPr>
          <a:xfrm>
            <a:off x="6126480" y="4526280"/>
            <a:ext cx="1097280" cy="1097280"/>
          </a:xfrm>
          <a:prstGeom prst="ellipse">
            <a:avLst/>
          </a:prstGeom>
          <a:solidFill>
            <a:srgbClr val="1B1B26"/>
          </a:solidFill>
          <a:ln w="19050">
            <a:solidFill>
              <a:srgbClr val="E8C77D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126480" y="4526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1352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7863840" y="1874520"/>
            <a:ext cx="3685032" cy="987552"/>
          </a:xfrm>
          <a:prstGeom prst="roundRect">
            <a:avLst>
              <a:gd name="adj" fmla="val 9259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092440" y="20208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UNITSUSED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currentReading − previousReading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863840" y="3017520"/>
            <a:ext cx="3685032" cy="987552"/>
          </a:xfrm>
          <a:prstGeom prst="roundRect">
            <a:avLst>
              <a:gd name="adj" fmla="val 9259"/>
            </a:avLst>
          </a:prstGeom>
          <a:solidFill>
            <a:srgbClr val="1B1B26"/>
          </a:solidFill>
          <a:ln w="15875">
            <a:solidFill>
              <a:srgbClr val="C9A050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092440" y="31638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092440" y="3474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unitsUsed × RATE_PER_UNIT (5.0)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863840" y="4160520"/>
            <a:ext cx="3685032" cy="987552"/>
          </a:xfrm>
          <a:prstGeom prst="roundRect">
            <a:avLst>
              <a:gd name="adj" fmla="val 9259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092440" y="43068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PREVIOUS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092440" y="4617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when no meter exists yet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863840" y="5303520"/>
            <a:ext cx="3685032" cy="822960"/>
          </a:xfrm>
          <a:prstGeom prst="roundRect">
            <a:avLst>
              <a:gd name="adj" fmla="val 11111"/>
            </a:avLst>
          </a:prstGeom>
          <a:solidFill>
            <a:srgbClr val="1B1B26"/>
          </a:solidFill>
          <a:ln w="15875">
            <a:solidFill>
              <a:srgbClr val="C9A050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7863840" y="5303520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billed 1760.0  ·  paid 1270.0  ·  due 490.0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Files, Engineered Like a Database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FileManager wraps every read, write and cascade so the GUI never handles a file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MANAGEMENT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46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669280" cy="822960"/>
          </a:xfrm>
          <a:prstGeom prst="roundRect">
            <a:avLst>
              <a:gd name="adj" fmla="val 11111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9" name="Image 0" descr="icons/folder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3" y="2159813"/>
            <a:ext cx="252374" cy="2523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00200" y="19933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customers.txt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3317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C1042,Rahim Uddin,22 Gulshan Ave Dhaka,M-77120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2834640"/>
            <a:ext cx="5669280" cy="822960"/>
          </a:xfrm>
          <a:prstGeom prst="roundRect">
            <a:avLst>
              <a:gd name="adj" fmla="val 11111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2960" y="2971800"/>
            <a:ext cx="548640" cy="548640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14" name="Image 1" descr="icons/folder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3119933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00200" y="2953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meters.txt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600200" y="3291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C1042,M-77120,1000,1120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" y="3794760"/>
            <a:ext cx="5669280" cy="822960"/>
          </a:xfrm>
          <a:prstGeom prst="roundRect">
            <a:avLst>
              <a:gd name="adj" fmla="val 11111"/>
            </a:avLst>
          </a:prstGeom>
          <a:solidFill>
            <a:srgbClr val="1B1B26"/>
          </a:solidFill>
          <a:ln w="15875">
            <a:solidFill>
              <a:srgbClr val="C9A050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19" name="Image 2" descr="icons/folder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4080053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00200" y="3913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bills.txt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600200" y="4251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C1042,Jan,120,1120,Paid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HELPERS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40080" y="5166360"/>
            <a:ext cx="1179576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0080" y="516636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readLines()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1947672" y="5166360"/>
            <a:ext cx="1261872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1947672" y="516636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writeLines()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3337560" y="5166360"/>
            <a:ext cx="1261872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3337560" y="516636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appendLine()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40080" y="5605272"/>
            <a:ext cx="2002536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40080" y="560527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readRowsForCustomer()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2770632" y="5605272"/>
            <a:ext cx="2084832" cy="347472"/>
          </a:xfrm>
          <a:prstGeom prst="roundRect">
            <a:avLst>
              <a:gd name="adj" fmla="val 50000"/>
            </a:avLst>
          </a:prstGeom>
          <a:solidFill>
            <a:srgbClr val="0C0C12"/>
          </a:solidFill>
          <a:ln w="12700">
            <a:solidFill>
              <a:srgbClr val="3A3122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770632" y="5605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removeAllForCustomer()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667512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deleteCustomer(id) — CASCADE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6675120" y="2286000"/>
            <a:ext cx="4873752" cy="621792"/>
          </a:xfrm>
          <a:prstGeom prst="roundRect">
            <a:avLst>
              <a:gd name="adj" fmla="val 14706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35" name="Text 30"/>
          <p:cNvSpPr txBox="1"/>
          <p:nvPr/>
        </p:nvSpPr>
        <p:spPr>
          <a:xfrm>
            <a:off x="6858000" y="228600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replaceOrDeleteCustomerLine(id, null)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10058400" y="22860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customers.txt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 rot="10800000">
            <a:off x="9006840" y="2916936"/>
            <a:ext cx="182880" cy="128016"/>
          </a:xfrm>
          <a:prstGeom prst="triangle">
            <a:avLst/>
          </a:prstGeom>
          <a:solidFill>
            <a:srgbClr val="C9A050"/>
          </a:solidFill>
          <a:ln/>
        </p:spPr>
      </p:sp>
      <p:sp>
        <p:nvSpPr>
          <p:cNvPr id="38" name="Shape 33"/>
          <p:cNvSpPr/>
          <p:nvPr/>
        </p:nvSpPr>
        <p:spPr>
          <a:xfrm>
            <a:off x="6675120" y="3063240"/>
            <a:ext cx="4873752" cy="621792"/>
          </a:xfrm>
          <a:prstGeom prst="roundRect">
            <a:avLst>
              <a:gd name="adj" fmla="val 14706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39" name="Text 34"/>
          <p:cNvSpPr txBox="1"/>
          <p:nvPr/>
        </p:nvSpPr>
        <p:spPr>
          <a:xfrm>
            <a:off x="6858000" y="30632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removeAllForCustomer(METER_FILE, id)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10058400" y="30632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meters.txt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 rot="10800000">
            <a:off x="9006840" y="3694176"/>
            <a:ext cx="182880" cy="128016"/>
          </a:xfrm>
          <a:prstGeom prst="triangle">
            <a:avLst/>
          </a:prstGeom>
          <a:solidFill>
            <a:srgbClr val="C9A050"/>
          </a:solidFill>
          <a:ln/>
        </p:spPr>
      </p:sp>
      <p:sp>
        <p:nvSpPr>
          <p:cNvPr id="42" name="Shape 37"/>
          <p:cNvSpPr/>
          <p:nvPr/>
        </p:nvSpPr>
        <p:spPr>
          <a:xfrm>
            <a:off x="6675120" y="3840480"/>
            <a:ext cx="4873752" cy="621792"/>
          </a:xfrm>
          <a:prstGeom prst="roundRect">
            <a:avLst>
              <a:gd name="adj" fmla="val 14706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43" name="Text 38"/>
          <p:cNvSpPr txBox="1"/>
          <p:nvPr/>
        </p:nvSpPr>
        <p:spPr>
          <a:xfrm>
            <a:off x="6858000" y="384048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removeAllForCustomer(BILL_FILE, id)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10058400" y="38404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bills.txt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6675120" y="4709160"/>
            <a:ext cx="4873752" cy="1417320"/>
          </a:xfrm>
          <a:prstGeom prst="roundRect">
            <a:avLst>
              <a:gd name="adj" fmla="val 6452"/>
            </a:avLst>
          </a:prstGeom>
          <a:solidFill>
            <a:srgbClr val="1B1B26"/>
          </a:solidFill>
          <a:ln w="15875">
            <a:solidFill>
              <a:srgbClr val="C9A050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sp>
        <p:nvSpPr>
          <p:cNvPr id="46" name="Text 41"/>
          <p:cNvSpPr txBox="1"/>
          <p:nvPr/>
        </p:nvSpPr>
        <p:spPr>
          <a:xfrm>
            <a:off x="690372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EXCEPTIONS</a:t>
            </a:r>
            <a:endParaRPr lang="en-US" sz="1050" dirty="0"/>
          </a:p>
        </p:txBody>
      </p:sp>
      <p:sp>
        <p:nvSpPr>
          <p:cNvPr id="47" name="Text 42"/>
          <p:cNvSpPr txBox="1"/>
          <p:nvPr/>
        </p:nvSpPr>
        <p:spPr>
          <a:xfrm>
            <a:off x="6903720" y="51206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DuplicateCustomerException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“Error: Customer ID … already exists.”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CustomerNotFoundException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“Error: Customer with ID … was not found.”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ERRORS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Failure Has a Clear Message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clauses stop bad input before it reaches the files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MANAGEMENT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46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16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  <a:gridCol w="66111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C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C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C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SHOWN IN OUTPUT 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customer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Customer ID … already exists.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 · billAdd ·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Customer does not exist.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below previous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Current reading cannot be less than previous reading (n).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Non-numeric reading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Please enter a valid number for the reading.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already billed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billAdd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No unbilled meter reading found.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not Paid / Unpaid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billAdd · billUpdate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Status must be 'Paid' or 'Unpaid'.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month not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billUpdate · billDelete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Bill not found.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declined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cancelled.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Patterns Inside a Small Codebase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follows well-known ideas even without any framework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MANAGEMENT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46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1B1B26"/>
          </a:solidFill>
          <a:ln w="15875">
            <a:solidFill>
              <a:srgbClr val="C9A050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48840"/>
            <a:ext cx="566928" cy="566928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9" name="Image 0" descr="icons/cog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71" y="2301911"/>
            <a:ext cx="260787" cy="26078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91640" y="21854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Facade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8346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FileManager hides all file I/O behind a small set of intent-named methods.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4472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9D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saveBill · findBillsByCustomerId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99632" y="187452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73952" y="2148840"/>
            <a:ext cx="566928" cy="566928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15" name="Image 1" descr="icons/layers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023" y="2301911"/>
            <a:ext cx="260787" cy="26078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251192" y="21854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Template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6473952" y="28346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buildPageFrame() gives all nine forms the same title, form, output and button layout.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473952" y="34472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9D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buildPageFrame(title, form, output, buttons…)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40080" y="406908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14400" y="4343400"/>
            <a:ext cx="566928" cy="566928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21" name="Image 2" descr="icons/exchang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471" y="4496471"/>
            <a:ext cx="260787" cy="26078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691640" y="43799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Mapper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914400" y="50292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toFileString() writes an entity to a row; toMeter() and toBill() read it back.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914400" y="56418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9D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toFileString ⇄ toMeter / toBill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199632" y="406908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73952" y="4343400"/>
            <a:ext cx="566928" cy="566928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27" name="Image 3" descr="icons/sitemap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023" y="4496471"/>
            <a:ext cx="260787" cy="26078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251192" y="43799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Navigator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6473952" y="50292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CardLayout swaps panels by name, and every panel returns to home.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473952" y="56418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9D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showPage("home")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 REPORT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Analytics, Zero Reconciliation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createReport() totals every stored bill — units, paid, unpaid and amounts due (sample customer C1042)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MANAGEMENT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46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6583680" cy="4251960"/>
          </a:xfrm>
          <a:prstGeom prst="roundRect">
            <a:avLst>
              <a:gd name="adj" fmla="val 2151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2057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CONSUMED PER MONTH</a:t>
            </a:r>
            <a:endParaRPr lang="en-US" sz="10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22960" y="2377440"/>
          <a:ext cx="62179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7"/>
          <p:cNvSpPr/>
          <p:nvPr/>
        </p:nvSpPr>
        <p:spPr>
          <a:xfrm>
            <a:off x="7498080" y="1874520"/>
            <a:ext cx="4050792" cy="960120"/>
          </a:xfrm>
          <a:prstGeom prst="roundRect">
            <a:avLst>
              <a:gd name="adj" fmla="val 9524"/>
            </a:avLst>
          </a:prstGeom>
          <a:solidFill>
            <a:srgbClr val="1B1B26"/>
          </a:solidFill>
          <a:ln w="15875">
            <a:solidFill>
              <a:srgbClr val="C9A050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0" y="20208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C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352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498080" y="2962656"/>
            <a:ext cx="4050792" cy="960120"/>
          </a:xfrm>
          <a:prstGeom prst="roundRect">
            <a:avLst>
              <a:gd name="adj" fmla="val 9524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772400" y="3108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BILLED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33741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1,760.0 Taka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7498080" y="4050792"/>
            <a:ext cx="4050792" cy="960120"/>
          </a:xfrm>
          <a:prstGeom prst="roundRect">
            <a:avLst>
              <a:gd name="adj" fmla="val 9524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772400" y="41970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PAID · 2 BILLS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44622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1,270.0 Taka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7498080" y="5138928"/>
            <a:ext cx="4050792" cy="960120"/>
          </a:xfrm>
          <a:prstGeom prst="roundRect">
            <a:avLst>
              <a:gd name="adj" fmla="val 9524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772400" y="52852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DUE · 1 BILL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5550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7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490.0 Taka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Plan — Proving the Guard Rails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scenarios cover the riskiest logic in the application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MANAGEMENT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46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— 16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505663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C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C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C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C1042 twice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attempt shows already exists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Backwards 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1120, enter 1100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with previous reading (1120) in message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abc as 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Please enter a valid number message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to bill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bill when all readings billed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unbilled meter reading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must be Paid or Unpaid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 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C1042, then open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and all meters and bills gone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totals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Paid, 670 Paid, 490 Unpaid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29D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 1760.0 · Paid 1270.0 · Due 490.0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can be run by hand in the GUI and verified by opening the three text files.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Today. Ready to Scale Tomorrow.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codebase already proves — and the hardening path from prototype to product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MANAGEMENT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46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—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285232" cy="4114800"/>
          </a:xfrm>
          <a:prstGeom prst="roundRect">
            <a:avLst>
              <a:gd name="adj" fmla="val 2222"/>
            </a:avLst>
          </a:prstGeom>
          <a:solidFill>
            <a:srgbClr val="13131B"/>
          </a:solidFill>
          <a:ln w="12700">
            <a:solidFill>
              <a:srgbClr val="3A312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48840"/>
            <a:ext cx="548640" cy="548640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9" name="Image 0" descr="icons/chec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3" y="2296973"/>
            <a:ext cx="252374" cy="2523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45920" y="2148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TODAY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Abstraction, inheritance &amp; polymorphism through Record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508760" y="3749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Encapsulated entities — Meter immutable, Bill status-only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4480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deletes and checked exceptions protect integrity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508760" y="5212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Ten-panel CardLayout GUI covering full CRUD + reporting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63640" y="1920240"/>
            <a:ext cx="5285232" cy="4114800"/>
          </a:xfrm>
          <a:prstGeom prst="roundRect">
            <a:avLst>
              <a:gd name="adj" fmla="val 2222"/>
            </a:avLst>
          </a:prstGeom>
          <a:solidFill>
            <a:srgbClr val="1B1B26"/>
          </a:solidFill>
          <a:ln w="15875">
            <a:solidFill>
              <a:srgbClr val="C9A050"/>
            </a:solidFill>
            <a:prstDash val="solid"/>
          </a:ln>
          <a:effectLst>
            <a:outerShdw sx="100000" sy="100000" kx="0" ky="0" algn="bl" rotWithShape="0" blurRad="203200" dist="50800" dir="16200000">
              <a:srgbClr val="C9A050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37960" y="2148840"/>
            <a:ext cx="548640" cy="548640"/>
          </a:xfrm>
          <a:prstGeom prst="ellipse">
            <a:avLst/>
          </a:prstGeom>
          <a:solidFill>
            <a:srgbClr val="1B1B26"/>
          </a:solidFill>
          <a:ln w="12700">
            <a:solidFill>
              <a:srgbClr val="C9A050"/>
            </a:solidFill>
            <a:prstDash val="solid"/>
          </a:ln>
        </p:spPr>
      </p:sp>
      <p:pic>
        <p:nvPicPr>
          <p:cNvPr id="21" name="Image 1" descr="icons/chartlin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093" y="2296973"/>
            <a:ext cx="252374" cy="25237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69480" y="2148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ROADMAP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65379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7132320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SQLite / MySQL through JDBC transactions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653796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7132320" y="3749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delimiters — a comma in an address breaks split(",")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653796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7132320" y="4480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RATE_PER_UNIT with slab-based tariffs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653796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7132320" y="5212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Bill to Meter by id instead of matching reading values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2026-09-28T15:24:43Z</dcterms:created>
  <dcterms:modified xsi:type="dcterms:W3CDTF">2026-09-28T15:24:43Z</dcterms:modified>
</cp:coreProperties>
</file>